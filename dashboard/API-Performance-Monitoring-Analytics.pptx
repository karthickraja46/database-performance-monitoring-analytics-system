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5" r:id="rId7"/>
    <p:sldId id="262" r:id="rId8"/>
    <p:sldId id="268" r:id="rId9"/>
    <p:sldId id="264" r:id="rId10"/>
    <p:sldId id="267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8FA63-06C2-4370-8EF6-1412FE8ABE0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26984-3C7D-4BF7-B007-BFEB3AD9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26984-3C7D-4BF7-B007-BFEB3AD92F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73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731520"/>
            <a:ext cx="109728" cy="512064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1561" y="2183844"/>
            <a:ext cx="686592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E2B54"/>
                </a:solidFill>
              </a:defRPr>
            </a:pPr>
            <a:r>
              <a:rPr lang="en-US" sz="4600" b="1" dirty="0"/>
              <a:t>API Performance Monitoring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01561" y="3695818"/>
            <a:ext cx="6492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rPr lang="en-US" sz="1200" dirty="0">
                <a:solidFill>
                  <a:srgbClr val="008577"/>
                </a:solidFill>
              </a:rPr>
              <a:t>Logs → ETL → MySQL → Analytics → Alerts → Power BI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D299D-5C7D-DD75-8CB2-438908FA9A2F}"/>
              </a:ext>
            </a:extLst>
          </p:cNvPr>
          <p:cNvSpPr txBox="1"/>
          <p:nvPr/>
        </p:nvSpPr>
        <p:spPr>
          <a:xfrm>
            <a:off x="901561" y="4517170"/>
            <a:ext cx="64922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rPr lang="en-US" b="1" dirty="0">
                <a:solidFill>
                  <a:srgbClr val="0E2B54"/>
                </a:solidFill>
              </a:rPr>
              <a:t>Karthick Raja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9356"/>
            <a:ext cx="5394960" cy="5161444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186816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Ingestion and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39356"/>
            <a:ext cx="5394960" cy="5161444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905803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184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endParaRPr lang="en-US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431266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02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B1130AF-161C-D1CD-7EEB-D41EF4383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1940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70FFA56-6B47-4395-096A-C6C577546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291" y="3303770"/>
            <a:ext cx="52923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D274F72-DF46-0720-8F94-D92C77DC7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291" y="2640598"/>
            <a:ext cx="369028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Logs are </a:t>
            </a:r>
            <a:r>
              <a:rPr lang="en-US" b="1" dirty="0"/>
              <a:t>too many and messy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→ Hard to understand directly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Monitoring is </a:t>
            </a:r>
            <a:r>
              <a:rPr lang="en-US" b="1" dirty="0"/>
              <a:t>manual and slow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→ We react </a:t>
            </a:r>
            <a:r>
              <a:rPr lang="en-US" i="1" dirty="0"/>
              <a:t>after</a:t>
            </a:r>
            <a:r>
              <a:rPr lang="en-US" dirty="0"/>
              <a:t> issues happen</a:t>
            </a: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Bad data is </a:t>
            </a:r>
            <a:r>
              <a:rPr lang="en-US" b="1" dirty="0"/>
              <a:t>hidden or ignored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→ Causes wrong analysis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7ECF7EA-3CB8-61B9-AFE1-D57AC07D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9935" y="2691234"/>
            <a:ext cx="452349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monitoring pipeline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From logs → database → dashboard</a:t>
            </a:r>
          </a:p>
          <a:p>
            <a:pPr lvl="1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data  |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❌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Rejected (bad) data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SQL </a:t>
            </a:r>
            <a:r>
              <a:rPr lang="en-US" altLang="en-US" dirty="0"/>
              <a:t>to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calculate: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KPIs (success rate, latency)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Risk metrics (slow queries, errors)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everything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dashboard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A8F3CA6-C6B0-8F15-5BED-33D72DAF3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349270"/>
              </p:ext>
            </p:extLst>
          </p:nvPr>
        </p:nvGraphicFramePr>
        <p:xfrm>
          <a:off x="1722120" y="5227193"/>
          <a:ext cx="3048000" cy="36576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78151097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587547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214075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71726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263984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259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325816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D2040640-B72E-7D68-88DB-E18CCFDE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20307"/>
            <a:ext cx="5120640" cy="530102"/>
          </a:xfrm>
          <a:prstGeom prst="rect">
            <a:avLst/>
          </a:prstGeom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Architecture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24636" y="997558"/>
            <a:ext cx="57122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577"/>
                </a:solidFill>
              </a:defRPr>
            </a:pPr>
            <a:r>
              <a:rPr sz="1600" dirty="0"/>
              <a:t>Updated End-to-End Pipeline (Final SQL Flow)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Log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1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7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Storage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SQL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9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7696" y="3810001"/>
            <a:ext cx="8341258" cy="146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Raw events are generated continuously and written to data/raw/log.csv.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Business and technical validation separates clean records from rejected records.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b="1" dirty="0" err="1"/>
              <a:t>system_logs</a:t>
            </a:r>
            <a:r>
              <a:rPr b="1" dirty="0"/>
              <a:t>, </a:t>
            </a:r>
            <a:r>
              <a:rPr b="1" dirty="0" err="1"/>
              <a:t>rejected_logs</a:t>
            </a:r>
            <a:r>
              <a:rPr b="1" dirty="0"/>
              <a:t>, </a:t>
            </a:r>
            <a:r>
              <a:rPr dirty="0"/>
              <a:t>and </a:t>
            </a:r>
            <a:r>
              <a:rPr b="1" dirty="0" err="1"/>
              <a:t>etl_metrics</a:t>
            </a:r>
            <a:r>
              <a:rPr b="1" dirty="0"/>
              <a:t> </a:t>
            </a:r>
            <a:r>
              <a:rPr dirty="0"/>
              <a:t>maintain analytic and governance state.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SQL scripts compute </a:t>
            </a:r>
            <a:r>
              <a:rPr b="1" dirty="0"/>
              <a:t>KPI, trend, tail-latency,</a:t>
            </a:r>
            <a:r>
              <a:rPr dirty="0"/>
              <a:t> and </a:t>
            </a:r>
            <a:r>
              <a:rPr b="1" dirty="0"/>
              <a:t>risk metrics </a:t>
            </a:r>
            <a:r>
              <a:rPr dirty="0"/>
              <a:t>for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03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5985" y="186325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Core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147" y="2979152"/>
            <a:ext cx="515947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system_logs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request-level fact table.</a:t>
            </a:r>
          </a:p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rejected_logs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invalid rows with reason.</a:t>
            </a:r>
          </a:p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etl_metrics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run totals and freshness.</a:t>
            </a:r>
            <a:endParaRPr lang="en-US" sz="2000" dirty="0">
              <a:latin typeface="+mj-lt"/>
            </a:endParaRPr>
          </a:p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system_logs_archive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long-term retention.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6472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Data Quality and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939476"/>
            <a:ext cx="4467890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CHECK constraints protect data quality.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FK links rejected rows to ETL run.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b="1" dirty="0"/>
              <a:t>Indexes speed time and endpoint queries.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Orphan check confirms audit integrity.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0" y="6502072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04/09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Analytics and Diagnostics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t>Basic, KPI, Advanced,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Basic: </a:t>
            </a:r>
            <a:endParaRPr lang="en-US" b="1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/>
              <a:t>traffic,</a:t>
            </a:r>
            <a:endParaRPr lang="en-US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/>
              <a:t>reliability,</a:t>
            </a:r>
            <a:endParaRPr lang="en-US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/>
              <a:t>latency.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Trend: </a:t>
            </a:r>
            <a:r>
              <a:rPr lang="en-US" b="1" dirty="0"/>
              <a:t> </a:t>
            </a:r>
            <a:r>
              <a:rPr dirty="0"/>
              <a:t>spikes by minute and hour.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Endpoint:</a:t>
            </a:r>
            <a:endParaRPr lang="en-US" b="1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slow</a:t>
            </a:r>
            <a:r>
              <a:rPr lang="en-US" dirty="0">
                <a:solidFill>
                  <a:srgbClr val="1E293B"/>
                </a:solidFill>
              </a:rPr>
              <a:t> </a:t>
            </a:r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failure-prone APIs.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Advanced: </a:t>
            </a:r>
            <a:endParaRPr lang="en-US" b="1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latency buckets,</a:t>
            </a:r>
            <a:endParaRPr lang="en-US" dirty="0">
              <a:solidFill>
                <a:srgbClr val="1E293B"/>
              </a:solidFill>
            </a:endParaRPr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risk scoring,</a:t>
            </a:r>
            <a:endParaRPr lang="en-US" dirty="0">
              <a:solidFill>
                <a:srgbClr val="1E293B"/>
              </a:solidFill>
            </a:endParaRPr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root-cause guidance.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t>KPI + Diagnostics + Action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86375" cy="1887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b="1" dirty="0"/>
              <a:t>KPI: </a:t>
            </a:r>
            <a:endParaRPr lang="en-US" b="1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	</a:t>
            </a:r>
            <a:r>
              <a:rPr dirty="0"/>
              <a:t>ETL quality and freshness.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Health score uses weighted reliability model.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Master adds rolling trend and spike detection.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Risk score prioritizes optimization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05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9872" y="73152"/>
            <a:ext cx="19177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Power BI Dashboard</a:t>
            </a:r>
          </a:p>
        </p:txBody>
      </p:sp>
      <p:pic>
        <p:nvPicPr>
          <p:cNvPr id="6" name="Picture 5" descr="powerbi_screenshot.png"/>
          <p:cNvPicPr>
            <a:picLocks noChangeAspect="1"/>
          </p:cNvPicPr>
          <p:nvPr/>
        </p:nvPicPr>
        <p:blipFill>
          <a:blip r:embed="rId2"/>
          <a:srcRect l="8502" t="12062" r="16887" b="12670"/>
          <a:stretch>
            <a:fillRect/>
          </a:stretch>
        </p:blipFill>
        <p:spPr>
          <a:xfrm>
            <a:off x="117985" y="602570"/>
            <a:ext cx="11952853" cy="6182278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  <a:softEdge rad="12700"/>
          </a:effectLst>
        </p:spPr>
      </p:pic>
      <p:sp>
        <p:nvSpPr>
          <p:cNvPr id="7" name="TextBox 6"/>
          <p:cNvSpPr txBox="1"/>
          <p:nvPr/>
        </p:nvSpPr>
        <p:spPr>
          <a:xfrm>
            <a:off x="320040" y="6473952"/>
            <a:ext cx="184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endParaRPr lang="en-US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Power BI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0443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Observed KPI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776" y="2488545"/>
            <a:ext cx="2997744" cy="1887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Total Requests: </a:t>
            </a:r>
            <a:r>
              <a:rPr dirty="0"/>
              <a:t>19.97K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Success Rate: </a:t>
            </a:r>
            <a:r>
              <a:rPr dirty="0"/>
              <a:t>79.27%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Error Rate: </a:t>
            </a:r>
            <a:r>
              <a:rPr dirty="0"/>
              <a:t>10.07%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Average Latency: </a:t>
            </a:r>
            <a:r>
              <a:rPr dirty="0"/>
              <a:t>0.494 sec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SLA Breach Rate: </a:t>
            </a:r>
            <a:r>
              <a:rPr dirty="0"/>
              <a:t>48.43%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105" y="183175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Meaning and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88545"/>
            <a:ext cx="3548792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Traffic has clear peak windows.</a:t>
            </a:r>
          </a:p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Reliability is moderate, not ideal.</a:t>
            </a:r>
          </a:p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SLA breach is the top concern.</a:t>
            </a:r>
          </a:p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Fix high-risk endpoints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1" y="6492240"/>
            <a:ext cx="5277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07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A0C27-5756-D438-FBB0-114EADF5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E79DAA-69E9-F5A5-29D6-9868477348EC}"/>
              </a:ext>
            </a:extLst>
          </p:cNvPr>
          <p:cNvSpPr/>
          <p:nvPr/>
        </p:nvSpPr>
        <p:spPr>
          <a:xfrm>
            <a:off x="-127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8FB01-D50D-3B4F-A113-99F442382F5B}"/>
              </a:ext>
            </a:extLst>
          </p:cNvPr>
          <p:cNvSpPr txBox="1"/>
          <p:nvPr/>
        </p:nvSpPr>
        <p:spPr>
          <a:xfrm>
            <a:off x="319913" y="73152"/>
            <a:ext cx="15552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US" sz="1600" b="1" dirty="0"/>
              <a:t>Business Impact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03026F-4E37-7167-2117-59A713066F64}"/>
              </a:ext>
            </a:extLst>
          </p:cNvPr>
          <p:cNvSpPr/>
          <p:nvPr/>
        </p:nvSpPr>
        <p:spPr>
          <a:xfrm>
            <a:off x="1084883" y="1188720"/>
            <a:ext cx="10615504" cy="5212081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E11C4-682F-5DE5-B662-B639AE237DDA}"/>
              </a:ext>
            </a:extLst>
          </p:cNvPr>
          <p:cNvSpPr txBox="1"/>
          <p:nvPr/>
        </p:nvSpPr>
        <p:spPr>
          <a:xfrm>
            <a:off x="1359203" y="1901068"/>
            <a:ext cx="184595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lang="en-US" sz="2100" b="1" dirty="0"/>
              <a:t>Key  Outcomes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F1369-EBE0-F222-AD47-126A6AFA254A}"/>
              </a:ext>
            </a:extLst>
          </p:cNvPr>
          <p:cNvSpPr txBox="1"/>
          <p:nvPr/>
        </p:nvSpPr>
        <p:spPr>
          <a:xfrm>
            <a:off x="1542459" y="2586868"/>
            <a:ext cx="777852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Detects slow queries </a:t>
            </a:r>
            <a:r>
              <a:rPr lang="en-US" b="1" dirty="0"/>
              <a:t>BEFORE system failures.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Improves system reliability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Helps identify root causes quickly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Enables data-driven performance optimization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Helps teams proactively monitor and optimize system performance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Enables proactive monitoring and optimization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F1F87-7140-8A27-05F3-2AE886643FDB}"/>
              </a:ext>
            </a:extLst>
          </p:cNvPr>
          <p:cNvSpPr txBox="1"/>
          <p:nvPr/>
        </p:nvSpPr>
        <p:spPr>
          <a:xfrm>
            <a:off x="11450804" y="6492240"/>
            <a:ext cx="5277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07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2819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Strengths, Validation, and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745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t>Current 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920" y="2674947"/>
            <a:ext cx="4795800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Complete flow from generator to dashboard.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Clean and rejected paths are separated.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Rejected </a:t>
            </a:r>
            <a:r>
              <a:rPr lang="en-US" dirty="0"/>
              <a:t>data is stored and can be analyzed.</a:t>
            </a:r>
            <a:endParaRPr dirty="0"/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Risk scoring and root-cause actions add depth.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105" y="194858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Next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74946"/>
            <a:ext cx="5114734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Automate runs with scheduling and alerts.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Add partitioning for larger datasets.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Add </a:t>
            </a:r>
            <a:r>
              <a:rPr lang="en-US" dirty="0"/>
              <a:t>security(</a:t>
            </a:r>
            <a:r>
              <a:rPr dirty="0"/>
              <a:t>RBAC</a:t>
            </a:r>
            <a:r>
              <a:rPr lang="en-US" dirty="0"/>
              <a:t>)</a:t>
            </a:r>
            <a:r>
              <a:rPr dirty="0"/>
              <a:t> and query</a:t>
            </a:r>
            <a:r>
              <a:rPr lang="en-US" dirty="0"/>
              <a:t> validation</a:t>
            </a:r>
            <a:r>
              <a:rPr dirty="0"/>
              <a:t> checks.</a:t>
            </a:r>
            <a:endParaRPr lang="en-US" dirty="0"/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Connect to real upstream sources.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08/09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792" y="1600200"/>
            <a:ext cx="5756641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0E2B54"/>
                </a:solidFill>
              </a:defRPr>
            </a:pPr>
            <a:r>
              <a:rPr dirty="0"/>
              <a:t>Thank You</a:t>
            </a:r>
          </a:p>
          <a:p>
            <a:pPr>
              <a:defRPr sz="2200">
                <a:solidFill>
                  <a:srgbClr val="008577"/>
                </a:solidFill>
              </a:defRPr>
            </a:pPr>
            <a:r>
              <a:rPr lang="en-US" sz="1200" dirty="0"/>
              <a:t>  Instead of reacting to failures, this system helps detect issues early and act proactively.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545</Words>
  <Application>Microsoft Office PowerPoint</Application>
  <PresentationFormat>Custom</PresentationFormat>
  <Paragraphs>112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Karthick Raja</dc:creator>
  <cp:keywords/>
  <dc:description>generated using python-pptx</dc:description>
  <cp:lastModifiedBy>Karthick Raja</cp:lastModifiedBy>
  <cp:revision>6</cp:revision>
  <dcterms:created xsi:type="dcterms:W3CDTF">2013-01-27T09:14:16Z</dcterms:created>
  <dcterms:modified xsi:type="dcterms:W3CDTF">2026-03-28T14:11:05Z</dcterms:modified>
  <cp:category/>
</cp:coreProperties>
</file>